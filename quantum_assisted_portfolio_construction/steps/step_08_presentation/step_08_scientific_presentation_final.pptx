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6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23"/>
  </p:normalViewPr>
  <p:slideViewPr>
    <p:cSldViewPr snapToGrid="0" snapToObjects="1">
      <p:cViewPr varScale="1">
        <p:scale>
          <a:sx n="95" d="100"/>
          <a:sy n="95" d="100"/>
        </p:scale>
        <p:origin x="200" y="6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74519"/>
            <a:ext cx="10360152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F6F8FC"/>
                </a:solidFill>
              </a:rPr>
              <a:t>Quantum-Assisted
Multi-Asset Portfolio Construction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61AEA70-CB88-50E3-E726-BF1EC93232D2}"/>
              </a:ext>
            </a:extLst>
          </p:cNvPr>
          <p:cNvSpPr/>
          <p:nvPr/>
        </p:nvSpPr>
        <p:spPr>
          <a:xfrm>
            <a:off x="3156858" y="4020670"/>
            <a:ext cx="6161954" cy="1034655"/>
          </a:xfrm>
          <a:prstGeom prst="roundRect">
            <a:avLst/>
          </a:prstGeom>
          <a:solidFill>
            <a:srgbClr val="0E234A"/>
          </a:solidFill>
          <a:ln w="13970">
            <a:solidFill>
              <a:srgbClr val="4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A3F94A-3526-1EB1-9CCD-ADF89376913E}"/>
              </a:ext>
            </a:extLst>
          </p:cNvPr>
          <p:cNvSpPr txBox="1"/>
          <p:nvPr/>
        </p:nvSpPr>
        <p:spPr>
          <a:xfrm>
            <a:off x="3505202" y="4636008"/>
            <a:ext cx="5813610" cy="3000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dirty="0">
                <a:solidFill>
                  <a:srgbClr val="42D9E5"/>
                </a:solidFill>
              </a:rPr>
              <a:t>WISER Quantum Summer Program  | </a:t>
            </a:r>
            <a:r>
              <a:rPr lang="en-US" sz="1350" b="0" dirty="0">
                <a:solidFill>
                  <a:srgbClr val="42D9E5"/>
                </a:solidFill>
              </a:rPr>
              <a:t>Project </a:t>
            </a:r>
            <a:r>
              <a:rPr sz="1350" b="0" dirty="0">
                <a:solidFill>
                  <a:srgbClr val="42D9E5"/>
                </a:solidFill>
              </a:rPr>
              <a:t> Sponsored by</a:t>
            </a:r>
            <a:r>
              <a:rPr lang="en-US" sz="1350" dirty="0">
                <a:solidFill>
                  <a:srgbClr val="42D9E5"/>
                </a:solidFill>
              </a:rPr>
              <a:t>  </a:t>
            </a:r>
            <a:r>
              <a:rPr sz="1350" b="0" dirty="0">
                <a:solidFill>
                  <a:srgbClr val="42D9E5"/>
                </a:solidFill>
              </a:rPr>
              <a:t>Vanguard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EEF866-1AB8-E55F-AC04-827C131165AC}"/>
              </a:ext>
            </a:extLst>
          </p:cNvPr>
          <p:cNvSpPr txBox="1"/>
          <p:nvPr/>
        </p:nvSpPr>
        <p:spPr>
          <a:xfrm>
            <a:off x="3505202" y="4168132"/>
            <a:ext cx="49377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F6F8FC"/>
                </a:solidFill>
              </a:rPr>
              <a:t>Prepared by: </a:t>
            </a:r>
            <a:r>
              <a:rPr lang="en-US" sz="1600" b="1" dirty="0">
                <a:solidFill>
                  <a:srgbClr val="F6F8FC"/>
                </a:solidFill>
              </a:rPr>
              <a:t>Yasaman Yaghoobi</a:t>
            </a:r>
            <a:endParaRPr sz="1600" b="1" dirty="0">
              <a:solidFill>
                <a:srgbClr val="F6F8F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473952"/>
            <a:ext cx="11247120" cy="22860"/>
          </a:xfrm>
          <a:prstGeom prst="rect">
            <a:avLst/>
          </a:prstGeom>
          <a:solidFill>
            <a:srgbClr val="F2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91440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9377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6F8FC"/>
                </a:solidFill>
              </a:rPr>
              <a:t>The scientific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F2BD66"/>
                </a:solidFill>
              </a:rPr>
              <a:t>The problem contains two different mathematical structures, so we deliberately split the computation.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5349240" cy="4526280"/>
          </a:xfrm>
          <a:prstGeom prst="roundRect">
            <a:avLst/>
          </a:prstGeom>
          <a:solidFill>
            <a:srgbClr val="0E234A"/>
          </a:solidFill>
          <a:ln w="13970">
            <a:solidFill>
              <a:srgbClr val="4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5056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42D9E5"/>
                </a:solidFill>
              </a:rPr>
              <a:t>Continuous finance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76272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50">
                <a:solidFill>
                  <a:srgbClr val="F6F8FC"/>
                </a:solidFill>
              </a:defRPr>
            </a:pPr>
            <a:r>
              <a:rPr dirty="0"/>
              <a:t>Continuous weights with budget and long-only constraints.</a:t>
            </a:r>
          </a:p>
          <a:p>
            <a:pPr>
              <a:spcAft>
                <a:spcPts val="300"/>
              </a:spcAft>
              <a:defRPr sz="1650">
                <a:solidFill>
                  <a:srgbClr val="F6F8FC"/>
                </a:solidFill>
              </a:defRPr>
            </a:pPr>
            <a:r>
              <a:rPr dirty="0"/>
              <a:t>Quadratic covariance risk, concentration, cost, and impact.</a:t>
            </a:r>
          </a:p>
          <a:p>
            <a:pPr>
              <a:spcAft>
                <a:spcPts val="300"/>
              </a:spcAft>
              <a:defRPr sz="1650">
                <a:solidFill>
                  <a:srgbClr val="F6F8FC"/>
                </a:solidFill>
              </a:defRPr>
            </a:pPr>
            <a:r>
              <a:rPr dirty="0"/>
              <a:t>Class, factor, liquidity, turnover, income, and stress limits.</a:t>
            </a:r>
          </a:p>
          <a:p>
            <a:pPr>
              <a:spcAft>
                <a:spcPts val="300"/>
              </a:spcAft>
              <a:defRPr sz="1650">
                <a:solidFill>
                  <a:srgbClr val="F6F8FC"/>
                </a:solidFill>
              </a:defRPr>
            </a:pPr>
            <a:r>
              <a:rPr dirty="0"/>
              <a:t>Best handled by convex classical optimization and explicit auditing.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349240" cy="4526280"/>
          </a:xfrm>
          <a:prstGeom prst="roundRect">
            <a:avLst/>
          </a:prstGeom>
          <a:solidFill>
            <a:srgbClr val="15294E"/>
          </a:solidFill>
          <a:ln w="13970">
            <a:solidFill>
              <a:srgbClr val="F2B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01968" y="1706445"/>
            <a:ext cx="5056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F2BD66"/>
                </a:solidFill>
              </a:rPr>
              <a:t>Discrete support-selection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8440" y="20802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50">
                <a:solidFill>
                  <a:srgbClr val="F6F8FC"/>
                </a:solidFill>
              </a:defRPr>
            </a:pPr>
            <a:r>
              <a:rPr dirty="0"/>
              <a:t>Which candidate trading coordinates are permitted to move?</a:t>
            </a:r>
          </a:p>
          <a:p>
            <a:pPr>
              <a:spcAft>
                <a:spcPts val="300"/>
              </a:spcAft>
              <a:defRPr sz="1650">
                <a:solidFill>
                  <a:srgbClr val="F6F8FC"/>
                </a:solidFill>
              </a:defRPr>
            </a:pPr>
            <a:r>
              <a:rPr dirty="0"/>
              <a:t>Binary decisions admit a QUBO/Ising representation.</a:t>
            </a:r>
          </a:p>
          <a:p>
            <a:pPr>
              <a:spcAft>
                <a:spcPts val="300"/>
              </a:spcAft>
              <a:defRPr sz="1650">
                <a:solidFill>
                  <a:srgbClr val="F6F8FC"/>
                </a:solidFill>
              </a:defRPr>
            </a:pPr>
            <a:r>
              <a:rPr dirty="0"/>
              <a:t>Fixed cardinality gives a well-defined feasible subspace.</a:t>
            </a:r>
          </a:p>
          <a:p>
            <a:pPr>
              <a:spcAft>
                <a:spcPts val="300"/>
              </a:spcAft>
              <a:defRPr sz="1650">
                <a:solidFill>
                  <a:srgbClr val="F6F8FC"/>
                </a:solidFill>
              </a:defRPr>
            </a:pPr>
            <a:r>
              <a:rPr dirty="0"/>
              <a:t>The quantum layer proposes support; the exact finance model remains the source of truth.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473952"/>
            <a:ext cx="11247120" cy="22860"/>
          </a:xfrm>
          <a:prstGeom prst="rect">
            <a:avLst/>
          </a:prstGeom>
          <a:solidFill>
            <a:srgbClr val="F2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91440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9377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6F8FC"/>
                </a:solidFill>
              </a:rPr>
              <a:t>The 10-step research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F2BD66"/>
                </a:solidFill>
              </a:rPr>
              <a:t>Every stage resolved one failure mode before the next stage was trusted.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057400" cy="1325880"/>
          </a:xfrm>
          <a:prstGeom prst="roundRect">
            <a:avLst/>
          </a:prstGeom>
          <a:solidFill>
            <a:srgbClr val="0E234A"/>
          </a:solidFill>
          <a:ln w="13970">
            <a:solidFill>
              <a:srgbClr val="4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1819656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2D9E5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56232"/>
            <a:ext cx="14173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6F8FC"/>
                </a:solidFill>
              </a:rPr>
              <a:t>Finance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2888" y="21488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8FA3BF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39" y="1691640"/>
            <a:ext cx="2057400" cy="1325880"/>
          </a:xfrm>
          <a:prstGeom prst="roundRect">
            <a:avLst/>
          </a:prstGeom>
          <a:solidFill>
            <a:srgbClr val="0E234A"/>
          </a:solidFill>
          <a:ln w="13970">
            <a:solidFill>
              <a:srgbClr val="4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44367" y="1819656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2D9E5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59" y="1856232"/>
            <a:ext cx="14173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6F8FC"/>
                </a:solidFill>
              </a:rPr>
              <a:t>QUBO / Ising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7" y="21488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8FA3BF"/>
                </a:solidFill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59" y="1691640"/>
            <a:ext cx="2057400" cy="1325880"/>
          </a:xfrm>
          <a:prstGeom prst="roundRect">
            <a:avLst/>
          </a:prstGeom>
          <a:solidFill>
            <a:srgbClr val="0E234A"/>
          </a:solidFill>
          <a:ln w="13970">
            <a:solidFill>
              <a:srgbClr val="4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76087" y="1819656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2D9E5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79" y="1856232"/>
            <a:ext cx="14173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6F8FC"/>
                </a:solidFill>
              </a:rPr>
              <a:t>Data + costs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6327" y="21488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8FA3BF"/>
                </a:solidFill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1691640"/>
            <a:ext cx="2057400" cy="1325880"/>
          </a:xfrm>
          <a:prstGeom prst="roundRect">
            <a:avLst/>
          </a:prstGeom>
          <a:solidFill>
            <a:srgbClr val="0E234A"/>
          </a:solidFill>
          <a:ln w="13970">
            <a:solidFill>
              <a:srgbClr val="4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07807" y="1819656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2D9E5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0999" y="1856232"/>
            <a:ext cx="14173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6F8FC"/>
                </a:solidFill>
              </a:rPr>
              <a:t>Classical ladder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8047" y="21488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8FA3BF"/>
                </a:solidFill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9800" y="1691640"/>
            <a:ext cx="2057400" cy="1325880"/>
          </a:xfrm>
          <a:prstGeom prst="roundRect">
            <a:avLst/>
          </a:prstGeom>
          <a:solidFill>
            <a:srgbClr val="0E234A"/>
          </a:solidFill>
          <a:ln w="13970">
            <a:solidFill>
              <a:srgbClr val="4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39528" y="1819656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2D9E5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1856232"/>
            <a:ext cx="14173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6F8FC"/>
                </a:solidFill>
              </a:rPr>
              <a:t>Investor goals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749039"/>
            <a:ext cx="2057400" cy="1325880"/>
          </a:xfrm>
          <a:prstGeom prst="roundRect">
            <a:avLst/>
          </a:prstGeom>
          <a:solidFill>
            <a:srgbClr val="0E234A"/>
          </a:solidFill>
          <a:ln w="13970">
            <a:solidFill>
              <a:srgbClr val="F2B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2648" y="3877055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2BD66"/>
                </a:solidFill>
              </a:rPr>
              <a:t>5Q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913631"/>
            <a:ext cx="14173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6F8FC"/>
                </a:solidFill>
              </a:rPr>
              <a:t>QAOA sleeve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32888" y="4206239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8FA3BF"/>
                </a:solidFill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34639" y="3749039"/>
            <a:ext cx="2057400" cy="1325880"/>
          </a:xfrm>
          <a:prstGeom prst="roundRect">
            <a:avLst/>
          </a:prstGeom>
          <a:solidFill>
            <a:srgbClr val="0E234A"/>
          </a:solidFill>
          <a:ln w="13970">
            <a:solidFill>
              <a:srgbClr val="F2B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44367" y="3877055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2BD66"/>
                </a:solidFill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59" y="3913631"/>
            <a:ext cx="14173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6F8FC"/>
                </a:solidFill>
              </a:rPr>
              <a:t>Common audit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64607" y="4206239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8FA3BF"/>
                </a:solidFill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66359" y="3749039"/>
            <a:ext cx="2057400" cy="1325880"/>
          </a:xfrm>
          <a:prstGeom prst="roundRect">
            <a:avLst/>
          </a:prstGeom>
          <a:solidFill>
            <a:srgbClr val="0E234A"/>
          </a:solidFill>
          <a:ln w="13970">
            <a:solidFill>
              <a:srgbClr val="F2B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76087" y="3877055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2BD66"/>
                </a:solidFill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79" y="3913631"/>
            <a:ext cx="14173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6F8FC"/>
                </a:solidFill>
              </a:rPr>
              <a:t>Independent validation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96327" y="4206239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8FA3BF"/>
                </a:solidFill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79" y="3749039"/>
            <a:ext cx="2057400" cy="1325880"/>
          </a:xfrm>
          <a:prstGeom prst="roundRect">
            <a:avLst/>
          </a:prstGeom>
          <a:solidFill>
            <a:srgbClr val="0E234A"/>
          </a:solidFill>
          <a:ln w="13970">
            <a:solidFill>
              <a:srgbClr val="F2B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07807" y="3877055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2BD66"/>
                </a:solidFill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0999" y="3913631"/>
            <a:ext cx="14173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6F8FC"/>
                </a:solidFill>
              </a:rPr>
              <a:t>Co-pilot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28047" y="4206239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8FA3BF"/>
                </a:solidFill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29800" y="3749039"/>
            <a:ext cx="2057400" cy="1325880"/>
          </a:xfrm>
          <a:prstGeom prst="roundRect">
            <a:avLst/>
          </a:prstGeom>
          <a:solidFill>
            <a:srgbClr val="0E234A"/>
          </a:solidFill>
          <a:ln w="13970">
            <a:solidFill>
              <a:srgbClr val="F2B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939528" y="3877055"/>
            <a:ext cx="530352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F2BD66"/>
                </a:solidFill>
              </a:rPr>
              <a:t>1</a:t>
            </a:r>
            <a:r>
              <a:rPr lang="en-US" sz="1800" b="1" dirty="0">
                <a:solidFill>
                  <a:srgbClr val="F2BD66"/>
                </a:solidFill>
              </a:rPr>
              <a:t>0</a:t>
            </a:r>
            <a:endParaRPr sz="1800" b="1" dirty="0">
              <a:solidFill>
                <a:srgbClr val="F2BD66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579608" y="3913631"/>
            <a:ext cx="14173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dirty="0">
                <a:solidFill>
                  <a:srgbClr val="F6F8FC"/>
                </a:solidFill>
              </a:rPr>
              <a:t>Scoring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57607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CAD8EB"/>
                </a:solidFill>
              </a:rPr>
              <a:t>Narrative: define realism → reduce carefully → experiment → compare → validate → explain → score.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473952"/>
            <a:ext cx="11247120" cy="22860"/>
          </a:xfrm>
          <a:prstGeom prst="rect">
            <a:avLst/>
          </a:prstGeom>
          <a:solidFill>
            <a:srgbClr val="F2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91440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9377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6F8FC"/>
                </a:solidFill>
              </a:rPr>
              <a:t>Step 1 — formulate the investable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86107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dirty="0">
                <a:solidFill>
                  <a:srgbClr val="F2BD66"/>
                </a:solidFill>
              </a:rPr>
              <a:t>The model rewards growth and income, but every attractive solution must survive an explicit policy rulebook.</a:t>
            </a:r>
          </a:p>
        </p:txBody>
      </p:sp>
      <p:pic>
        <p:nvPicPr>
          <p:cNvPr id="7" name="Picture 6" descr="s1_ob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677171"/>
            <a:ext cx="10881360" cy="1408518"/>
          </a:xfrm>
          <a:prstGeom prst="rect">
            <a:avLst/>
          </a:prstGeom>
        </p:spPr>
      </p:pic>
      <p:pic>
        <p:nvPicPr>
          <p:cNvPr id="8" name="Picture 7" descr="s1_c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67985"/>
            <a:ext cx="10789920" cy="39401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3886200"/>
            <a:ext cx="3429000" cy="1874519"/>
          </a:xfrm>
          <a:prstGeom prst="roundRect">
            <a:avLst/>
          </a:prstGeom>
          <a:solidFill>
            <a:srgbClr val="0E234A"/>
          </a:solidFill>
          <a:ln w="13970">
            <a:solidFill>
              <a:srgbClr val="4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3977640"/>
            <a:ext cx="3136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2D9E5"/>
                </a:solidFill>
              </a:rPr>
              <a:t>Variables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315968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6F8FC"/>
                </a:solidFill>
              </a:rPr>
              <a:t>w: final weights
p,n: purchases and sales
h: scenario-warning slack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3886200"/>
            <a:ext cx="3429000" cy="1874519"/>
          </a:xfrm>
          <a:prstGeom prst="roundRect">
            <a:avLst/>
          </a:prstGeom>
          <a:solidFill>
            <a:srgbClr val="15294E"/>
          </a:solidFill>
          <a:ln w="13970">
            <a:solidFill>
              <a:srgbClr val="F2B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17136" y="3977640"/>
            <a:ext cx="3136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2BD66"/>
                </a:solidFill>
              </a:rPr>
              <a:t>Financial meaning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4315968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F6F8FC"/>
                </a:solidFill>
              </a:rPr>
              <a:t>Reward growth + income. Penalize variance, concentration, execution cost, market impact, turnover, and warning excess.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3886200"/>
            <a:ext cx="3429000" cy="1874519"/>
          </a:xfrm>
          <a:prstGeom prst="roundRect">
            <a:avLst/>
          </a:prstGeom>
          <a:solidFill>
            <a:srgbClr val="0E234A"/>
          </a:solidFill>
          <a:ln w="13970">
            <a:solidFill>
              <a:srgbClr val="4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38744" y="3977640"/>
            <a:ext cx="3136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2D9E5"/>
                </a:solidFill>
              </a:rPr>
              <a:t>Why quadratic / convex?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315968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F6F8FC"/>
                </a:solidFill>
              </a:rPr>
              <a:t>It is rich enough for the finance problem and structured enough for later independent QP reconstruction and KKT certification.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8981" y="6634241"/>
            <a:ext cx="11082528" cy="45719"/>
          </a:xfrm>
          <a:prstGeom prst="rect">
            <a:avLst/>
          </a:prstGeom>
          <a:solidFill>
            <a:srgbClr val="F2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91440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9377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F6F8FC"/>
                </a:solidFill>
              </a:rPr>
              <a:t>Step 2 — derive the quantum-compatible subproblem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F2BD66"/>
                </a:solidFill>
              </a:rPr>
              <a:t>The general fixed-trade-map derivation is exact theory; the final experiment uses a code-aligned active-rebalance surrogate.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532120" cy="4526280"/>
          </a:xfrm>
          <a:prstGeom prst="roundRect">
            <a:avLst/>
          </a:prstGeom>
          <a:solidFill>
            <a:srgbClr val="0E234A"/>
          </a:solidFill>
          <a:ln w="13970">
            <a:solidFill>
              <a:srgbClr val="4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" y="1417320"/>
            <a:ext cx="52395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2D9E5"/>
                </a:solidFill>
              </a:rPr>
              <a:t>General derivation → executed energy</a:t>
            </a:r>
          </a:p>
        </p:txBody>
      </p:sp>
      <p:pic>
        <p:nvPicPr>
          <p:cNvPr id="9" name="Picture 8" descr="s2_s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755648"/>
            <a:ext cx="5074920" cy="355791"/>
          </a:xfrm>
          <a:prstGeom prst="rect">
            <a:avLst/>
          </a:prstGeom>
        </p:spPr>
      </p:pic>
      <p:pic>
        <p:nvPicPr>
          <p:cNvPr id="10" name="Picture 9" descr="s2_qub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468880"/>
            <a:ext cx="5166360" cy="2563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2069" y="3127248"/>
            <a:ext cx="4937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dirty="0">
                <a:solidFill>
                  <a:srgbClr val="F2BD66"/>
                </a:solidFill>
              </a:rPr>
              <a:t>Final active-rebalance QUBO used in Step 5Q:</a:t>
            </a:r>
          </a:p>
        </p:txBody>
      </p:sp>
      <p:pic>
        <p:nvPicPr>
          <p:cNvPr id="12" name="Picture 11" descr="s2_active_q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" y="3486760"/>
            <a:ext cx="3749039" cy="616725"/>
          </a:xfrm>
          <a:prstGeom prst="rect">
            <a:avLst/>
          </a:prstGeom>
        </p:spPr>
      </p:pic>
      <p:pic>
        <p:nvPicPr>
          <p:cNvPr id="13" name="Picture 12" descr="s2_active_Q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234232"/>
            <a:ext cx="5029200" cy="42637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9808" y="4892040"/>
            <a:ext cx="4892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30" b="0" dirty="0">
                <a:solidFill>
                  <a:srgbClr val="CAD8EB"/>
                </a:solidFill>
              </a:rPr>
              <a:t>The QAOA energy ranks classically screened permissions. Exact trade sizes, scenario hinges, and the complete Step 1 rulebook are restored by continuous refinement.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325880"/>
            <a:ext cx="5212080" cy="4526280"/>
          </a:xfrm>
          <a:prstGeom prst="roundRect">
            <a:avLst/>
          </a:prstGeom>
          <a:solidFill>
            <a:srgbClr val="15294E"/>
          </a:solidFill>
          <a:ln w="13970">
            <a:solidFill>
              <a:srgbClr val="F2B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9944" y="1417320"/>
            <a:ext cx="4919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2BD66"/>
                </a:solidFill>
              </a:rPr>
              <a:t>Why not encode all weights directly?</a:t>
            </a:r>
          </a:p>
        </p:txBody>
      </p:sp>
      <p:pic>
        <p:nvPicPr>
          <p:cNvPr id="17" name="Picture 16" descr="s2_30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1828800"/>
            <a:ext cx="4709160" cy="162070"/>
          </a:xfrm>
          <a:prstGeom prst="rect">
            <a:avLst/>
          </a:prstGeom>
        </p:spPr>
      </p:pic>
      <p:pic>
        <p:nvPicPr>
          <p:cNvPr id="18" name="Picture 17" descr="s2_memor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2232456"/>
            <a:ext cx="4709160" cy="2775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92240" y="3246120"/>
            <a:ext cx="45720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20">
                <a:solidFill>
                  <a:srgbClr val="F6F8FC"/>
                </a:solidFill>
              </a:defRPr>
            </a:pPr>
            <a:r>
              <a:rPr dirty="0"/>
              <a:t>Six bits per continuous weight already implies about 300 binary variables before auxiliaries.</a:t>
            </a:r>
          </a:p>
          <a:p>
            <a:pPr>
              <a:spcAft>
                <a:spcPts val="300"/>
              </a:spcAft>
              <a:defRPr sz="1420">
                <a:solidFill>
                  <a:srgbClr val="F6F8FC"/>
                </a:solidFill>
              </a:defRPr>
            </a:pPr>
            <a:r>
              <a:rPr dirty="0"/>
              <a:t>The 50-asset universe is not a classical capacity limit; quantum resource pressure applies to the binary encoding.</a:t>
            </a:r>
          </a:p>
          <a:p>
            <a:pPr>
              <a:spcAft>
                <a:spcPts val="300"/>
              </a:spcAft>
              <a:defRPr sz="1420">
                <a:solidFill>
                  <a:srgbClr val="F6F8FC"/>
                </a:solidFill>
              </a:defRPr>
            </a:pPr>
            <a:r>
              <a:rPr dirty="0"/>
              <a:t>Final QAOA: 11 screened coordinates, choose 6, then exact continuous refinement.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925312"/>
            <a:ext cx="10789920" cy="571500"/>
          </a:xfrm>
          <a:prstGeom prst="roundRect">
            <a:avLst/>
          </a:prstGeom>
          <a:solidFill>
            <a:srgbClr val="0E234A"/>
          </a:solidFill>
          <a:ln w="13970">
            <a:solidFill>
              <a:srgbClr val="4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6007608"/>
            <a:ext cx="1033272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40" b="1" dirty="0">
                <a:solidFill>
                  <a:srgbClr val="42D9E5"/>
                </a:solidFill>
              </a:rPr>
              <a:t>Exact claim: best-of-20 QAOA matches the minimum of the executed 462-state reduced QUBO — not exhaustive exact-finance optimization over all 462 continuously refined supports.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473952"/>
            <a:ext cx="11247120" cy="22860"/>
          </a:xfrm>
          <a:prstGeom prst="rect">
            <a:avLst/>
          </a:prstGeom>
          <a:solidFill>
            <a:srgbClr val="F2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91440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9377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F6F8FC"/>
                </a:solidFill>
              </a:rPr>
              <a:t>Step 3 — construct the financial input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6303"/>
            <a:ext cx="10945368" cy="3154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dirty="0">
                <a:solidFill>
                  <a:srgbClr val="F2BD66"/>
                </a:solidFill>
              </a:rPr>
              <a:t>The final claims use the reproducible synthetic branch; the historical branch remains available as a separate data path.</a:t>
            </a:r>
          </a:p>
        </p:txBody>
      </p:sp>
      <p:pic>
        <p:nvPicPr>
          <p:cNvPr id="7" name="Picture 6" descr="s3_ret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28858"/>
            <a:ext cx="5486400" cy="647605"/>
          </a:xfrm>
          <a:prstGeom prst="rect">
            <a:avLst/>
          </a:prstGeom>
        </p:spPr>
      </p:pic>
      <p:pic>
        <p:nvPicPr>
          <p:cNvPr id="8" name="Picture 7" descr="s3_co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14207"/>
            <a:ext cx="5486400" cy="468216"/>
          </a:xfrm>
          <a:prstGeom prst="rect">
            <a:avLst/>
          </a:prstGeom>
        </p:spPr>
      </p:pic>
      <p:pic>
        <p:nvPicPr>
          <p:cNvPr id="9" name="Picture 8" descr="s3_f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23105"/>
            <a:ext cx="5486400" cy="61200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94360" y="4297680"/>
            <a:ext cx="5440680" cy="1463040"/>
          </a:xfrm>
          <a:prstGeom prst="roundRect">
            <a:avLst/>
          </a:prstGeom>
          <a:solidFill>
            <a:srgbClr val="0E234A"/>
          </a:solidFill>
          <a:ln w="13970">
            <a:solidFill>
              <a:srgbClr val="4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4108" y="4397287"/>
            <a:ext cx="5148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42D9E5"/>
                </a:solidFill>
              </a:rPr>
              <a:t>Why these estimators?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700016"/>
            <a:ext cx="4892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dirty="0">
                <a:solidFill>
                  <a:srgbClr val="F6F8FC"/>
                </a:solidFill>
              </a:rPr>
              <a:t>Expected returns are shrunk toward priors to reduce estimation noise. Covariance is shrinkage-estimated and numerically projected to PSD before entering a convex risk term.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5026" y="1604772"/>
            <a:ext cx="5166360" cy="4370832"/>
          </a:xfrm>
          <a:prstGeom prst="roundRect">
            <a:avLst/>
          </a:prstGeom>
          <a:solidFill>
            <a:srgbClr val="15294E"/>
          </a:solidFill>
          <a:ln w="13970">
            <a:solidFill>
              <a:srgbClr val="F2B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57634" y="1952244"/>
            <a:ext cx="48737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F2BD66"/>
                </a:solidFill>
              </a:rPr>
              <a:t>Key conventions from the data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6659" y="2614207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30">
                <a:solidFill>
                  <a:srgbClr val="F6F8FC"/>
                </a:solidFill>
              </a:defRPr>
            </a:pPr>
            <a:r>
              <a:rPr dirty="0"/>
              <a:t>Historical means/covariance are annualized from daily data using 252 trading days.</a:t>
            </a:r>
          </a:p>
          <a:p>
            <a:pPr>
              <a:spcAft>
                <a:spcPts val="300"/>
              </a:spcAft>
              <a:defRPr sz="1430">
                <a:solidFill>
                  <a:srgbClr val="F6F8FC"/>
                </a:solidFill>
              </a:defRPr>
            </a:pPr>
            <a:r>
              <a:rPr dirty="0"/>
              <a:t>Empirical-return weight in shrinkage: 0.35.</a:t>
            </a:r>
          </a:p>
          <a:p>
            <a:pPr>
              <a:spcAft>
                <a:spcPts val="300"/>
              </a:spcAft>
              <a:defRPr sz="1430">
                <a:solidFill>
                  <a:srgbClr val="F6F8FC"/>
                </a:solidFill>
              </a:defRPr>
            </a:pPr>
            <a:r>
              <a:rPr dirty="0"/>
              <a:t>Final synthetic factor and idiosyncratic shocks use Student-t tails with 7 degrees of freedom.</a:t>
            </a:r>
          </a:p>
          <a:p>
            <a:pPr>
              <a:spcAft>
                <a:spcPts val="300"/>
              </a:spcAft>
              <a:defRPr sz="1430">
                <a:solidFill>
                  <a:srgbClr val="F6F8FC"/>
                </a:solidFill>
              </a:defRPr>
            </a:pPr>
            <a:r>
              <a:rPr dirty="0"/>
              <a:t>Synthetic series length: 1,260 business days.</a:t>
            </a:r>
          </a:p>
          <a:p>
            <a:pPr>
              <a:spcAft>
                <a:spcPts val="300"/>
              </a:spcAft>
              <a:defRPr sz="1430">
                <a:solidFill>
                  <a:srgbClr val="F6F8FC"/>
                </a:solidFill>
              </a:defRPr>
            </a:pPr>
            <a:r>
              <a:rPr dirty="0"/>
              <a:t>Base transaction-cost calibration: $10M portfolio, 3 execution days, 1% reference trade.</a:t>
            </a:r>
          </a:p>
          <a:p>
            <a:pPr>
              <a:spcAft>
                <a:spcPts val="300"/>
              </a:spcAft>
              <a:defRPr sz="1430">
                <a:solidFill>
                  <a:srgbClr val="F6F8FC"/>
                </a:solidFill>
              </a:defRPr>
            </a:pPr>
            <a:r>
              <a:rPr dirty="0"/>
              <a:t>50 assets is a modeling choice for breadth and auditability, not the classical capacity limit.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473952"/>
            <a:ext cx="11247120" cy="22860"/>
          </a:xfrm>
          <a:prstGeom prst="rect">
            <a:avLst/>
          </a:prstGeom>
          <a:solidFill>
            <a:srgbClr val="F2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91440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9377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6F8FC"/>
                </a:solidFill>
              </a:rPr>
              <a:t>Step 4 — learn from a classical realism ladder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F2BD66"/>
                </a:solidFill>
              </a:rPr>
              <a:t>Each intermediate solution is audited against the final policy rulebook, even before that full rulebook is used in optimization.</a:t>
            </a:r>
          </a:p>
        </p:txBody>
      </p:sp>
      <p:pic>
        <p:nvPicPr>
          <p:cNvPr id="7" name="Picture 6" descr="step4_final_policy_brea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64792"/>
            <a:ext cx="5623560" cy="299738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46520" y="1545336"/>
            <a:ext cx="5029200" cy="4663440"/>
          </a:xfrm>
          <a:prstGeom prst="roundRect">
            <a:avLst/>
          </a:prstGeom>
          <a:solidFill>
            <a:srgbClr val="0E234A"/>
          </a:solidFill>
          <a:ln w="13970">
            <a:solidFill>
              <a:srgbClr val="4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03136" y="1967803"/>
            <a:ext cx="47365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42D9E5"/>
                </a:solidFill>
              </a:rPr>
              <a:t>What the ladder taught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455164"/>
            <a:ext cx="44805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20">
                <a:solidFill>
                  <a:srgbClr val="F6F8FC"/>
                </a:solidFill>
              </a:defRPr>
            </a:pPr>
            <a:r>
              <a:rPr dirty="0"/>
              <a:t>The minimum-variance solution had 13 final-policy breaches; mean-variance had 8.</a:t>
            </a:r>
          </a:p>
          <a:p>
            <a:pPr>
              <a:spcAft>
                <a:spcPts val="300"/>
              </a:spcAft>
              <a:defRPr sz="1520">
                <a:solidFill>
                  <a:srgbClr val="F6F8FC"/>
                </a:solidFill>
              </a:defRPr>
            </a:pPr>
            <a:r>
              <a:rPr dirty="0"/>
              <a:t>Asset caps and guardrails reduced the problem but did not yet produce full policy compliance.</a:t>
            </a:r>
          </a:p>
          <a:p>
            <a:pPr>
              <a:spcAft>
                <a:spcPts val="300"/>
              </a:spcAft>
              <a:defRPr sz="1520">
                <a:solidFill>
                  <a:srgbClr val="F6F8FC"/>
                </a:solidFill>
              </a:defRPr>
            </a:pPr>
            <a:r>
              <a:rPr dirty="0"/>
              <a:t>Trading-cost and scenario-aware stages were the first Step 4 portfolios with zero hard breaches.</a:t>
            </a:r>
          </a:p>
          <a:p>
            <a:pPr>
              <a:spcAft>
                <a:spcPts val="300"/>
              </a:spcAft>
              <a:defRPr sz="1520">
                <a:solidFill>
                  <a:srgbClr val="F6F8FC"/>
                </a:solidFill>
              </a:defRPr>
            </a:pPr>
            <a:r>
              <a:rPr dirty="0"/>
              <a:t>Gross turnover remained above 100% until implementation realism entered the model.</a:t>
            </a:r>
          </a:p>
          <a:p>
            <a:pPr>
              <a:spcAft>
                <a:spcPts val="300"/>
              </a:spcAft>
              <a:defRPr sz="1520">
                <a:solidFill>
                  <a:srgbClr val="F6F8FC"/>
                </a:solidFill>
              </a:defRPr>
            </a:pPr>
            <a:r>
              <a:rPr dirty="0"/>
              <a:t>The lesson: numerical convergence is not the same thing as </a:t>
            </a:r>
            <a:r>
              <a:rPr dirty="0" err="1"/>
              <a:t>investability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473952"/>
            <a:ext cx="11247120" cy="22860"/>
          </a:xfrm>
          <a:prstGeom prst="rect">
            <a:avLst/>
          </a:prstGeom>
          <a:solidFill>
            <a:srgbClr val="F2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4937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8FA3BF"/>
                </a:solidFill>
              </a:rPr>
              <a:t>WISER Quantum Summer Program  •  Vanguard-sponsored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91440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9377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6F8FC"/>
                </a:solidFill>
              </a:rPr>
              <a:t>Step 5 — make investor preferences dimensionally meaningful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7273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dirty="0">
                <a:solidFill>
                  <a:srgbClr val="F2BD66"/>
                </a:solidFill>
              </a:rPr>
              <a:t>The hard problem was not creating sliders; it was making heterogeneous economic quantities comparable.</a:t>
            </a:r>
          </a:p>
        </p:txBody>
      </p:sp>
      <p:pic>
        <p:nvPicPr>
          <p:cNvPr id="7" name="Picture 6" descr="s5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962478"/>
            <a:ext cx="5623560" cy="470776"/>
          </a:xfrm>
          <a:prstGeom prst="rect">
            <a:avLst/>
          </a:prstGeom>
        </p:spPr>
      </p:pic>
      <p:pic>
        <p:nvPicPr>
          <p:cNvPr id="8" name="Picture 7" descr="s5_sha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76605"/>
            <a:ext cx="5532120" cy="518259"/>
          </a:xfrm>
          <a:prstGeom prst="rect">
            <a:avLst/>
          </a:prstGeom>
        </p:spPr>
      </p:pic>
      <p:pic>
        <p:nvPicPr>
          <p:cNvPr id="9" name="Picture 8" descr="s5_spl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3526635"/>
            <a:ext cx="5532120" cy="51242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94360" y="4370832"/>
            <a:ext cx="5440680" cy="1353312"/>
          </a:xfrm>
          <a:prstGeom prst="roundRect">
            <a:avLst/>
          </a:prstGeom>
          <a:solidFill>
            <a:srgbClr val="15294E"/>
          </a:solidFill>
          <a:ln w="13970">
            <a:solidFill>
              <a:srgbClr val="F2B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664" y="4462272"/>
            <a:ext cx="5148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2BD66"/>
                </a:solidFill>
              </a:rPr>
              <a:t>Selected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745736"/>
            <a:ext cx="48920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6F8FC"/>
                </a:solidFill>
              </a:rPr>
              <a:t>Growth 55, Income 55, Drawdown 70, Cost 60 → preference shares 22.9%, 22.9%, 29.2%, and 25.0%.</a:t>
            </a:r>
          </a:p>
        </p:txBody>
      </p:sp>
      <p:pic>
        <p:nvPicPr>
          <p:cNvPr id="13" name="Picture 12" descr="step5_sensitiv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2061430"/>
            <a:ext cx="5166360" cy="32113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473952"/>
            <a:ext cx="11247120" cy="22860"/>
          </a:xfrm>
          <a:prstGeom prst="rect">
            <a:avLst/>
          </a:prstGeom>
          <a:solidFill>
            <a:srgbClr val="F2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91440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9377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6F8FC"/>
                </a:solidFill>
              </a:rPr>
              <a:t>Step 5Q — fixed-cardinality QAOA on the active sleeve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F2BD66"/>
                </a:solidFill>
              </a:rPr>
              <a:t>The circuit explores only six-of-eleven supports; exactness refers to the executed reduced QUBO.</a:t>
            </a:r>
          </a:p>
        </p:txBody>
      </p:sp>
      <p:pic>
        <p:nvPicPr>
          <p:cNvPr id="7" name="Picture 6" descr="q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003" y="1564495"/>
            <a:ext cx="3493974" cy="502920"/>
          </a:xfrm>
          <a:prstGeom prst="rect">
            <a:avLst/>
          </a:prstGeom>
        </p:spPr>
      </p:pic>
      <p:pic>
        <p:nvPicPr>
          <p:cNvPr id="8" name="Picture 7" descr="q_dic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59" y="2201091"/>
            <a:ext cx="2179021" cy="749808"/>
          </a:xfrm>
          <a:prstGeom prst="rect">
            <a:avLst/>
          </a:prstGeom>
        </p:spPr>
      </p:pic>
      <p:pic>
        <p:nvPicPr>
          <p:cNvPr id="9" name="Picture 8" descr="q_x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3171226"/>
            <a:ext cx="4010150" cy="530352"/>
          </a:xfrm>
          <a:prstGeom prst="rect">
            <a:avLst/>
          </a:prstGeom>
        </p:spPr>
      </p:pic>
      <p:pic>
        <p:nvPicPr>
          <p:cNvPr id="10" name="Picture 9" descr="q_st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808476"/>
            <a:ext cx="3426652" cy="5486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94360" y="4498848"/>
            <a:ext cx="5349240" cy="1207008"/>
          </a:xfrm>
          <a:prstGeom prst="roundRect">
            <a:avLst/>
          </a:prstGeom>
          <a:solidFill>
            <a:srgbClr val="0E234A"/>
          </a:solidFill>
          <a:ln w="13970">
            <a:solidFill>
              <a:srgbClr val="4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" y="4590288"/>
            <a:ext cx="5056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2D9E5"/>
                </a:solidFill>
              </a:rPr>
              <a:t>Why Dicke + XY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82896"/>
            <a:ext cx="48463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60" b="0">
                <a:solidFill>
                  <a:srgbClr val="F6F8FC"/>
                </a:solidFill>
              </a:rPr>
              <a:t>The initial state is already feasible, and the XY-ring mixer preserves Hamming weight, so the ideal circuit stays inside the 462-state six-excitation manifold.</a:t>
            </a:r>
          </a:p>
        </p:txBody>
      </p:sp>
      <p:pic>
        <p:nvPicPr>
          <p:cNvPr id="14" name="Picture 13" descr="qaoa_seed_reliabil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5667" y="1274717"/>
            <a:ext cx="4750866" cy="157276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547104" y="2838341"/>
            <a:ext cx="4663440" cy="502920"/>
          </a:xfrm>
          <a:prstGeom prst="roundRect">
            <a:avLst/>
          </a:prstGeom>
          <a:solidFill>
            <a:srgbClr val="15294E"/>
          </a:solidFill>
          <a:ln w="13970">
            <a:solidFill>
              <a:srgbClr val="F2B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47104" y="2907792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20" b="1" dirty="0">
                <a:solidFill>
                  <a:srgbClr val="F2BD66"/>
                </a:solidFill>
              </a:rPr>
              <a:t>15/20 optimized seeds reached the exact reduced-QUBO optimum — seed-level reliability, not per-shot probability.</a:t>
            </a:r>
          </a:p>
        </p:txBody>
      </p:sp>
      <p:pic>
        <p:nvPicPr>
          <p:cNvPr id="17" name="Picture 16" descr="material_trad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3401568"/>
            <a:ext cx="5074920" cy="28999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473952"/>
            <a:ext cx="11247120" cy="22860"/>
          </a:xfrm>
          <a:prstGeom prst="rect">
            <a:avLst/>
          </a:prstGeom>
          <a:solidFill>
            <a:srgbClr val="F2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91440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9377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6F8FC"/>
                </a:solidFill>
              </a:rPr>
              <a:t>Step 6 — compare candidates under one common rulebook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61506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dirty="0">
                <a:solidFill>
                  <a:srgbClr val="F2BD66"/>
                </a:solidFill>
              </a:rPr>
              <a:t>The shortlist is a trade-off surface, not a contest where one algorithm must win every metric.</a:t>
            </a:r>
          </a:p>
        </p:txBody>
      </p:sp>
      <p:pic>
        <p:nvPicPr>
          <p:cNvPr id="7" name="Picture 6" descr="step6_core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39" y="1759130"/>
            <a:ext cx="6623601" cy="3886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78040" y="1371600"/>
            <a:ext cx="4389120" cy="4709160"/>
          </a:xfrm>
          <a:prstGeom prst="roundRect">
            <a:avLst/>
          </a:prstGeom>
          <a:solidFill>
            <a:srgbClr val="0E234A"/>
          </a:solidFill>
          <a:ln w="13970">
            <a:solidFill>
              <a:srgbClr val="4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99248" y="1444752"/>
            <a:ext cx="40965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2D9E5"/>
                </a:solidFill>
              </a:rPr>
              <a:t>Implementation and governance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1828800"/>
            <a:ext cx="1828800" cy="502920"/>
          </a:xfrm>
          <a:prstGeom prst="roundRect">
            <a:avLst/>
          </a:prstGeom>
          <a:solidFill>
            <a:srgbClr val="15294E"/>
          </a:solidFill>
          <a:ln w="13970">
            <a:solidFill>
              <a:srgbClr val="76B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25512" y="1947672"/>
            <a:ext cx="16824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76B5F4"/>
                </a:solidFill>
              </a:rPr>
              <a:t>Primary cost 0.0020%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1828800"/>
            <a:ext cx="1828800" cy="502920"/>
          </a:xfrm>
          <a:prstGeom prst="roundRect">
            <a:avLst/>
          </a:prstGeom>
          <a:solidFill>
            <a:srgbClr val="15294E"/>
          </a:solidFill>
          <a:ln w="13970">
            <a:solidFill>
              <a:srgbClr val="76B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91472" y="1947672"/>
            <a:ext cx="16824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76B5F4"/>
                </a:solidFill>
              </a:rPr>
              <a:t>Warnings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2514600"/>
            <a:ext cx="1828800" cy="502920"/>
          </a:xfrm>
          <a:prstGeom prst="roundRect">
            <a:avLst/>
          </a:prstGeom>
          <a:solidFill>
            <a:srgbClr val="15294E"/>
          </a:solidFill>
          <a:ln w="13970">
            <a:solidFill>
              <a:srgbClr val="4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25512" y="2633472"/>
            <a:ext cx="16824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42D9E5"/>
                </a:solidFill>
              </a:rPr>
              <a:t>Strict cost 0.0056%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8320" y="2514600"/>
            <a:ext cx="1828800" cy="502920"/>
          </a:xfrm>
          <a:prstGeom prst="roundRect">
            <a:avLst/>
          </a:prstGeom>
          <a:solidFill>
            <a:srgbClr val="15294E"/>
          </a:solidFill>
          <a:ln w="13970">
            <a:solidFill>
              <a:srgbClr val="4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91472" y="2633472"/>
            <a:ext cx="16824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42D9E5"/>
                </a:solidFill>
              </a:rPr>
              <a:t>Warnings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3200400"/>
            <a:ext cx="1828800" cy="502920"/>
          </a:xfrm>
          <a:prstGeom prst="roundRect">
            <a:avLst/>
          </a:prstGeom>
          <a:solidFill>
            <a:srgbClr val="15294E"/>
          </a:solidFill>
          <a:ln w="13970">
            <a:solidFill>
              <a:srgbClr val="B89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25512" y="3319272"/>
            <a:ext cx="16824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B89DF4"/>
                </a:solidFill>
              </a:rPr>
              <a:t>QAOA cost 0.0015%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3200400"/>
            <a:ext cx="1828800" cy="502920"/>
          </a:xfrm>
          <a:prstGeom prst="roundRect">
            <a:avLst/>
          </a:prstGeom>
          <a:solidFill>
            <a:srgbClr val="15294E"/>
          </a:solidFill>
          <a:ln w="13970">
            <a:solidFill>
              <a:srgbClr val="B89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91472" y="3319272"/>
            <a:ext cx="16824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B89DF4"/>
                </a:solidFill>
              </a:rPr>
              <a:t>Warnings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3977639"/>
            <a:ext cx="3749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50">
                <a:solidFill>
                  <a:srgbClr val="F6F8FC"/>
                </a:solidFill>
              </a:defRPr>
            </a:pPr>
            <a:r>
              <a:t>Primary: strongest base objective and slightly highest expected return.</a:t>
            </a:r>
          </a:p>
          <a:p>
            <a:pPr>
              <a:spcAft>
                <a:spcPts val="300"/>
              </a:spcAft>
              <a:defRPr sz="1450">
                <a:solidFill>
                  <a:srgbClr val="F6F8FC"/>
                </a:solidFill>
              </a:defRPr>
            </a:pPr>
            <a:r>
              <a:t>Strict-warning: almost the same return with lower downside risk and no warning breaches.</a:t>
            </a:r>
          </a:p>
          <a:p>
            <a:pPr>
              <a:spcAft>
                <a:spcPts val="300"/>
              </a:spcAft>
              <a:defRPr sz="1450">
                <a:solidFill>
                  <a:srgbClr val="F6F8FC"/>
                </a:solidFill>
              </a:defRPr>
            </a:pPr>
            <a:r>
              <a:t>QAOA: lowest turnover and cost among the certified three, but not the risk-adjusted winner.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473952"/>
            <a:ext cx="11247120" cy="22860"/>
          </a:xfrm>
          <a:prstGeom prst="rect">
            <a:avLst/>
          </a:prstGeom>
          <a:solidFill>
            <a:srgbClr val="F2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91440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9377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6F8FC"/>
                </a:solidFill>
              </a:rPr>
              <a:t>Step 7 — independent mathematical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F2BD66"/>
                </a:solidFill>
              </a:rPr>
              <a:t>Independent solver reconstruction under the same financial model is combined with convexity, KKT residuals, and exact reduced-QUBO ground truth.</a:t>
            </a:r>
          </a:p>
        </p:txBody>
      </p:sp>
      <p:pic>
        <p:nvPicPr>
          <p:cNvPr id="7" name="Picture 6" descr="kk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37247"/>
            <a:ext cx="5486400" cy="108272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4360" y="4160520"/>
            <a:ext cx="5349240" cy="1645920"/>
          </a:xfrm>
          <a:prstGeom prst="roundRect">
            <a:avLst/>
          </a:prstGeom>
          <a:solidFill>
            <a:srgbClr val="0E234A"/>
          </a:solidFill>
          <a:ln w="13970">
            <a:solidFill>
              <a:srgbClr val="4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0664" y="4251960"/>
            <a:ext cx="5056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2D9E5"/>
                </a:solidFill>
              </a:rPr>
              <a:t>Independent reconstruction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53712"/>
            <a:ext cx="4846320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20" b="0">
                <a:solidFill>
                  <a:srgbClr val="F6F8FC"/>
                </a:solidFill>
              </a:rPr>
              <a:t>CVXPY rebuilt the QP. Clarabel reproduced the full-space classical solutions; OSQP reproduced the fixed-support QAOA refinement. Primary and strict audits had 130 constraints; QAOA had 174. All reported failures were zero.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4846320"/>
            <a:ext cx="4800600" cy="960120"/>
          </a:xfrm>
          <a:prstGeom prst="roundRect">
            <a:avLst/>
          </a:prstGeom>
          <a:solidFill>
            <a:srgbClr val="15294E"/>
          </a:solidFill>
          <a:ln w="13970">
            <a:solidFill>
              <a:srgbClr val="F2B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5138928"/>
            <a:ext cx="4343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F2BD66"/>
                </a:solidFill>
              </a:rPr>
              <a:t>Exact enumeration of all 462 supports: selected QAOA support = rank 1, zero energy gap.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389888"/>
            <a:ext cx="5102352" cy="3182112"/>
          </a:xfrm>
          <a:prstGeom prst="roundRect">
            <a:avLst/>
          </a:prstGeom>
          <a:solidFill>
            <a:srgbClr val="15294E"/>
          </a:solidFill>
          <a:ln w="13970">
            <a:solidFill>
              <a:srgbClr val="4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1536192"/>
            <a:ext cx="46451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42D9E5"/>
                </a:solidFill>
              </a:rPr>
              <a:t>Forward-path robustness: 1,000 common synthetic paths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93392"/>
            <a:ext cx="138988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70" b="1">
                <a:solidFill>
                  <a:srgbClr val="CAD8EB"/>
                </a:solidFill>
              </a:rPr>
              <a:t>Portfolio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1272" y="1993392"/>
            <a:ext cx="106070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70" b="1">
                <a:solidFill>
                  <a:srgbClr val="CAD8EB"/>
                </a:solidFill>
              </a:rPr>
              <a:t>5th-pct return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34272" y="1993392"/>
            <a:ext cx="960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70" b="1">
                <a:solidFill>
                  <a:srgbClr val="CAD8EB"/>
                </a:solidFill>
              </a:rPr>
              <a:t>95th-pct DD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76688" y="1993392"/>
            <a:ext cx="868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70" b="1">
                <a:solidFill>
                  <a:srgbClr val="CAD8EB"/>
                </a:solidFill>
              </a:rPr>
              <a:t>Loss freq.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496312"/>
            <a:ext cx="138988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6F8FC"/>
                </a:solidFill>
              </a:rPr>
              <a:t>Strict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1272" y="2496312"/>
            <a:ext cx="10607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6F8FC"/>
                </a:solidFill>
              </a:rPr>
              <a:t>-2.66%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4272" y="2496312"/>
            <a:ext cx="960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6F8FC"/>
                </a:solidFill>
              </a:rPr>
              <a:t>13.96%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76688" y="2496312"/>
            <a:ext cx="8686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6F8FC"/>
                </a:solidFill>
              </a:rPr>
              <a:t>13.5%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035808"/>
            <a:ext cx="138988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6F8FC"/>
                </a:solidFill>
              </a:rPr>
              <a:t>Primary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1272" y="3035808"/>
            <a:ext cx="10607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6F8FC"/>
                </a:solidFill>
              </a:rPr>
              <a:t>-3.15%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272" y="3035808"/>
            <a:ext cx="960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6F8FC"/>
                </a:solidFill>
              </a:rPr>
              <a:t>14.91%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76688" y="3035808"/>
            <a:ext cx="8686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6F8FC"/>
                </a:solidFill>
              </a:rPr>
              <a:t>14.1%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575304"/>
            <a:ext cx="138988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6F8FC"/>
                </a:solidFill>
              </a:rPr>
              <a:t>QAOA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91272" y="3575304"/>
            <a:ext cx="10607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6F8FC"/>
                </a:solidFill>
              </a:rPr>
              <a:t>-3.19%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4272" y="3575304"/>
            <a:ext cx="960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6F8FC"/>
                </a:solidFill>
              </a:rPr>
              <a:t>14.93%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76688" y="3575304"/>
            <a:ext cx="8686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6F8FC"/>
                </a:solidFill>
              </a:rPr>
              <a:t>14.6%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087368"/>
            <a:ext cx="4617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F2BD66"/>
                </a:solidFill>
              </a:rPr>
              <a:t>Strict has the strongest modeled downside profile among the equally validated shortlist.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473952"/>
            <a:ext cx="11247120" cy="22860"/>
          </a:xfrm>
          <a:prstGeom prst="rect">
            <a:avLst/>
          </a:prstGeom>
          <a:solidFill>
            <a:srgbClr val="F2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91440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9377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6F8FC"/>
                </a:solidFill>
              </a:rPr>
              <a:t>Step 9 — turn the optimizer into a decision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F2BD66"/>
                </a:solidFill>
              </a:rPr>
              <a:t>The co-pilot exposes the recommendation, trade-offs, compliance evidence, and provenance instead of hiding them in notebook cells.</a:t>
            </a:r>
          </a:p>
        </p:txBody>
      </p:sp>
      <p:pic>
        <p:nvPicPr>
          <p:cNvPr id="7" name="Picture 6" descr="copilot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0"/>
            <a:ext cx="6400800" cy="477295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23760" y="1389888"/>
            <a:ext cx="4343400" cy="4709160"/>
          </a:xfrm>
          <a:prstGeom prst="roundRect">
            <a:avLst/>
          </a:prstGeom>
          <a:solidFill>
            <a:srgbClr val="0E234A"/>
          </a:solidFill>
          <a:ln w="13970">
            <a:solidFill>
              <a:srgbClr val="4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88064" y="1572768"/>
            <a:ext cx="40507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42D9E5"/>
                </a:solidFill>
              </a:rPr>
              <a:t>Three questions the interface must 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002536"/>
            <a:ext cx="3657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2BD66"/>
                </a:solidFill>
              </a:rPr>
              <a:t>1  What allocation is recommended?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555748"/>
            <a:ext cx="3657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>
                <a:solidFill>
                  <a:srgbClr val="F2BD66"/>
                </a:solidFill>
              </a:rPr>
              <a:t>2  What changed versus the baseline?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095244"/>
            <a:ext cx="3657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>
                <a:solidFill>
                  <a:srgbClr val="F2BD66"/>
                </a:solidFill>
              </a:rPr>
              <a:t>3  Why is the result compliant?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798679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50">
                <a:solidFill>
                  <a:srgbClr val="F6F8FC"/>
                </a:solidFill>
              </a:defRPr>
            </a:pPr>
            <a:r>
              <a:rPr dirty="0"/>
              <a:t>The interface distinguishes six selected permissions from four executed material trades.</a:t>
            </a:r>
          </a:p>
          <a:p>
            <a:pPr>
              <a:spcAft>
                <a:spcPts val="300"/>
              </a:spcAft>
              <a:defRPr sz="1450">
                <a:solidFill>
                  <a:srgbClr val="F6F8FC"/>
                </a:solidFill>
              </a:defRPr>
            </a:pPr>
            <a:r>
              <a:rPr dirty="0"/>
              <a:t>It surfaces Step 6 and Step 7 evidence rather than generating unsupported explanations.</a:t>
            </a:r>
          </a:p>
          <a:p>
            <a:pPr>
              <a:spcAft>
                <a:spcPts val="300"/>
              </a:spcAft>
              <a:defRPr sz="1450">
                <a:solidFill>
                  <a:srgbClr val="F6F8FC"/>
                </a:solidFill>
              </a:defRPr>
            </a:pPr>
            <a:r>
              <a:rPr dirty="0"/>
              <a:t>It is a decision layer, not another optimizer.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6698777"/>
            <a:ext cx="11247120" cy="22860"/>
          </a:xfrm>
          <a:prstGeom prst="rect">
            <a:avLst/>
          </a:prstGeom>
          <a:solidFill>
            <a:srgbClr val="F2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91440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6118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F6F8FC"/>
                </a:solidFill>
              </a:rPr>
              <a:t>Step 10 — score only after feasibility is established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6869" y="848829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dirty="0">
                <a:solidFill>
                  <a:srgbClr val="F2BD66"/>
                </a:solidFill>
              </a:rPr>
              <a:t>The provisional universe and the fully certified universe are defined mathematically, not rhetorically.</a:t>
            </a:r>
          </a:p>
        </p:txBody>
      </p:sp>
      <p:pic>
        <p:nvPicPr>
          <p:cNvPr id="7" name="Picture 6" descr="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5303520" cy="434021"/>
          </a:xfrm>
          <a:prstGeom prst="rect">
            <a:avLst/>
          </a:prstGeom>
        </p:spPr>
      </p:pic>
      <p:pic>
        <p:nvPicPr>
          <p:cNvPr id="8" name="Picture 7" descr="certg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57400"/>
            <a:ext cx="5303520" cy="552974"/>
          </a:xfrm>
          <a:prstGeom prst="rect">
            <a:avLst/>
          </a:prstGeom>
        </p:spPr>
      </p:pic>
      <p:pic>
        <p:nvPicPr>
          <p:cNvPr id="9" name="Picture 8" descr="riskrati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788920"/>
            <a:ext cx="5303520" cy="711387"/>
          </a:xfrm>
          <a:prstGeom prst="rect">
            <a:avLst/>
          </a:prstGeom>
        </p:spPr>
      </p:pic>
      <p:pic>
        <p:nvPicPr>
          <p:cNvPr id="10" name="Picture 9" descr="coresco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749039"/>
            <a:ext cx="5303520" cy="122163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46761" y="5081099"/>
            <a:ext cx="5120640" cy="1005840"/>
          </a:xfrm>
          <a:prstGeom prst="roundRect">
            <a:avLst/>
          </a:prstGeom>
          <a:solidFill>
            <a:srgbClr val="15294E"/>
          </a:solidFill>
          <a:ln w="13970">
            <a:solidFill>
              <a:srgbClr val="F2B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762001" y="5219408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30" b="1" dirty="0">
                <a:solidFill>
                  <a:srgbClr val="F2BD66"/>
                </a:solidFill>
              </a:rPr>
              <a:t>Score 100 is candidate-set normalization, not a probability, percentile, Sharpe ratio, or external official rating.</a:t>
            </a:r>
          </a:p>
        </p:txBody>
      </p:sp>
      <p:pic>
        <p:nvPicPr>
          <p:cNvPr id="13" name="Picture 12" descr="step10_provision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007" y="1196808"/>
            <a:ext cx="5303520" cy="2900362"/>
          </a:xfrm>
          <a:prstGeom prst="rect">
            <a:avLst/>
          </a:prstGeom>
        </p:spPr>
      </p:pic>
      <p:pic>
        <p:nvPicPr>
          <p:cNvPr id="14" name="Picture 13" descr="step10_certifi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5315" y="4125109"/>
            <a:ext cx="4049485" cy="254572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473952"/>
            <a:ext cx="11247120" cy="22860"/>
          </a:xfrm>
          <a:prstGeom prst="rect">
            <a:avLst/>
          </a:prstGeom>
          <a:solidFill>
            <a:srgbClr val="F2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91440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9377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6F8FC"/>
                </a:solidFill>
              </a:rPr>
              <a:t>The bottlenecks shaped the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F2BD66"/>
                </a:solidFill>
              </a:rPr>
              <a:t>Every additional layer in the final system exists because an earlier simplification failed a real test.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417320"/>
            <a:ext cx="10972800" cy="786384"/>
          </a:xfrm>
          <a:prstGeom prst="roundRect">
            <a:avLst/>
          </a:prstGeom>
          <a:solidFill>
            <a:srgbClr val="0E234A"/>
          </a:solidFill>
          <a:ln w="13970">
            <a:solidFill>
              <a:srgbClr val="4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563624"/>
            <a:ext cx="164592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42D9E5"/>
                </a:solidFill>
              </a:rPr>
              <a:t>Quantum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545336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80" b="0">
                <a:solidFill>
                  <a:srgbClr val="F6F8FC"/>
                </a:solidFill>
              </a:rPr>
              <a:t>Direct weight encoding is too large.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45336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80" b="1">
                <a:solidFill>
                  <a:srgbClr val="CAD8EB"/>
                </a:solidFill>
              </a:rPr>
              <a:t>→  Screen to 11 meaningful binary permissions.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359152"/>
            <a:ext cx="10972800" cy="786384"/>
          </a:xfrm>
          <a:prstGeom prst="roundRect">
            <a:avLst/>
          </a:prstGeom>
          <a:solidFill>
            <a:srgbClr val="0E234A"/>
          </a:solidFill>
          <a:ln w="13970">
            <a:solidFill>
              <a:srgbClr val="F2B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505456"/>
            <a:ext cx="164592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BD66"/>
                </a:solidFill>
              </a:rPr>
              <a:t>Finance realism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487168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80" b="0">
                <a:solidFill>
                  <a:srgbClr val="F6F8FC"/>
                </a:solidFill>
              </a:rPr>
              <a:t>Simple optima violate policy / turnover.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87168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80" b="1">
                <a:solidFill>
                  <a:srgbClr val="CAD8EB"/>
                </a:solidFill>
              </a:rPr>
              <a:t>→  Build the Step 4 constraint ladder and exact audit.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300984"/>
            <a:ext cx="10972800" cy="786384"/>
          </a:xfrm>
          <a:prstGeom prst="roundRect">
            <a:avLst/>
          </a:prstGeom>
          <a:solidFill>
            <a:srgbClr val="0E234A"/>
          </a:solidFill>
          <a:ln w="13970">
            <a:solidFill>
              <a:srgbClr val="4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447288"/>
            <a:ext cx="164592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42D9E5"/>
                </a:solidFill>
              </a:rPr>
              <a:t>QUBO fidelity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42900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80" b="0">
                <a:solidFill>
                  <a:srgbClr val="F6F8FC"/>
                </a:solidFill>
              </a:rPr>
              <a:t>Some non-quadratic terms are only local surrogates.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2900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80" b="1">
                <a:solidFill>
                  <a:srgbClr val="CAD8EB"/>
                </a:solidFill>
              </a:rPr>
              <a:t>→  Recompute the exact financial objective after decoding.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4242816"/>
            <a:ext cx="10972800" cy="786384"/>
          </a:xfrm>
          <a:prstGeom prst="roundRect">
            <a:avLst/>
          </a:prstGeom>
          <a:solidFill>
            <a:srgbClr val="0E234A"/>
          </a:solidFill>
          <a:ln w="13970">
            <a:solidFill>
              <a:srgbClr val="F2B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389120"/>
            <a:ext cx="164592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BD66"/>
                </a:solidFill>
              </a:rPr>
              <a:t>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370832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80" b="0">
                <a:solidFill>
                  <a:srgbClr val="F6F8FC"/>
                </a:solidFill>
              </a:rPr>
              <a:t>Convergence does not prove correctness.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370832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80" b="1">
                <a:solidFill>
                  <a:srgbClr val="CAD8EB"/>
                </a:solidFill>
              </a:rPr>
              <a:t>→  Use CVXPY, KKT residuals, and exact enumeration.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" y="5184648"/>
            <a:ext cx="10972800" cy="786384"/>
          </a:xfrm>
          <a:prstGeom prst="roundRect">
            <a:avLst/>
          </a:prstGeom>
          <a:solidFill>
            <a:srgbClr val="0E234A"/>
          </a:solidFill>
          <a:ln w="13970">
            <a:solidFill>
              <a:srgbClr val="4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5330952"/>
            <a:ext cx="164592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42D9E5"/>
                </a:solidFill>
              </a:rPr>
              <a:t>Interpretability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5312664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80" b="0">
                <a:solidFill>
                  <a:srgbClr val="F6F8FC"/>
                </a:solidFill>
              </a:rPr>
              <a:t>A support bitstring is not an executable portfolio.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312664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80" b="1">
                <a:solidFill>
                  <a:srgbClr val="CAD8EB"/>
                </a:solidFill>
              </a:rPr>
              <a:t>→  Refine continuously and expose provenance in the co-pilot.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9571" y="6633972"/>
            <a:ext cx="11247120" cy="22860"/>
          </a:xfrm>
          <a:prstGeom prst="rect">
            <a:avLst/>
          </a:prstGeom>
          <a:solidFill>
            <a:srgbClr val="F2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91440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9377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6F8FC"/>
                </a:solidFill>
              </a:rPr>
              <a:t>What we achieved — and what remains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F2BD66"/>
                </a:solidFill>
              </a:rPr>
              <a:t>The contribution is a disciplined hybrid decomposition with auditable evidence, not a claim of quantum superiority.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3474720" cy="4160520"/>
          </a:xfrm>
          <a:prstGeom prst="roundRect">
            <a:avLst/>
          </a:prstGeom>
          <a:solidFill>
            <a:srgbClr val="0E234A"/>
          </a:solidFill>
          <a:ln w="13970">
            <a:solidFill>
              <a:srgbClr val="4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" y="1508760"/>
            <a:ext cx="31821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2D9E5"/>
                </a:solidFill>
              </a:rPr>
              <a:t>Wins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82880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20">
                <a:solidFill>
                  <a:srgbClr val="F6F8FC"/>
                </a:solidFill>
              </a:defRPr>
            </a:pPr>
            <a:r>
              <a:t>50-asset finance-aware portfolio workflow.</a:t>
            </a:r>
          </a:p>
          <a:p>
            <a:pPr>
              <a:spcAft>
                <a:spcPts val="300"/>
              </a:spcAft>
              <a:defRPr sz="1520">
                <a:solidFill>
                  <a:srgbClr val="F6F8FC"/>
                </a:solidFill>
              </a:defRPr>
            </a:pPr>
            <a:r>
              <a:t>Exact reduced optimum recovered in 15 of 20 QAOA seeds.</a:t>
            </a:r>
          </a:p>
          <a:p>
            <a:pPr>
              <a:spcAft>
                <a:spcPts val="300"/>
              </a:spcAft>
              <a:defRPr sz="1520">
                <a:solidFill>
                  <a:srgbClr val="F6F8FC"/>
                </a:solidFill>
              </a:defRPr>
            </a:pPr>
            <a:r>
              <a:t>Independent continuous validation and exact binary benchmarking.</a:t>
            </a:r>
          </a:p>
          <a:p>
            <a:pPr>
              <a:spcAft>
                <a:spcPts val="300"/>
              </a:spcAft>
              <a:defRPr sz="1520">
                <a:solidFill>
                  <a:srgbClr val="F6F8FC"/>
                </a:solidFill>
              </a:defRPr>
            </a:pPr>
            <a:r>
              <a:t>Decision interface and transparent scoring.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474720" cy="4160520"/>
          </a:xfrm>
          <a:prstGeom prst="roundRect">
            <a:avLst/>
          </a:prstGeom>
          <a:solidFill>
            <a:srgbClr val="15294E"/>
          </a:solidFill>
          <a:ln w="13970">
            <a:solidFill>
              <a:srgbClr val="F2B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9704" y="1508760"/>
            <a:ext cx="31821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2BD66"/>
                </a:solidFill>
              </a:rPr>
              <a:t>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82880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20">
                <a:solidFill>
                  <a:srgbClr val="F6F8FC"/>
                </a:solidFill>
              </a:defRPr>
            </a:pPr>
            <a:r>
              <a:t>Final evidence is synthetic-model, not rolling historical out-of-sample performance.</a:t>
            </a:r>
          </a:p>
          <a:p>
            <a:pPr>
              <a:spcAft>
                <a:spcPts val="300"/>
              </a:spcAft>
              <a:defRPr sz="1520">
                <a:solidFill>
                  <a:srgbClr val="F6F8FC"/>
                </a:solidFill>
              </a:defRPr>
            </a:pPr>
            <a:r>
              <a:t>The 462-state binary problem is classically easy.</a:t>
            </a:r>
          </a:p>
          <a:p>
            <a:pPr>
              <a:spcAft>
                <a:spcPts val="300"/>
              </a:spcAft>
              <a:defRPr sz="1520">
                <a:solidFill>
                  <a:srgbClr val="F6F8FC"/>
                </a:solidFill>
              </a:defRPr>
            </a:pPr>
            <a:r>
              <a:t>The experiment uses a simulator, not quantum hardware.</a:t>
            </a:r>
          </a:p>
          <a:p>
            <a:pPr>
              <a:spcAft>
                <a:spcPts val="300"/>
              </a:spcAft>
              <a:defRPr sz="1520">
                <a:solidFill>
                  <a:srgbClr val="F6F8FC"/>
                </a:solidFill>
              </a:defRPr>
            </a:pPr>
            <a:r>
              <a:t>No quantum-advantage claim is justified.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474720" cy="4160520"/>
          </a:xfrm>
          <a:prstGeom prst="roundRect">
            <a:avLst/>
          </a:prstGeom>
          <a:solidFill>
            <a:srgbClr val="0E234A"/>
          </a:solidFill>
          <a:ln w="13970">
            <a:solidFill>
              <a:srgbClr val="4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38744" y="1508760"/>
            <a:ext cx="31821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2D9E5"/>
                </a:solidFill>
              </a:rPr>
              <a:t>Next research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182880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20">
                <a:solidFill>
                  <a:srgbClr val="F6F8FC"/>
                </a:solidFill>
              </a:defRPr>
            </a:pPr>
            <a:r>
              <a:t>Rolling historical train-test validation.</a:t>
            </a:r>
          </a:p>
          <a:p>
            <a:pPr>
              <a:spcAft>
                <a:spcPts val="300"/>
              </a:spcAft>
              <a:defRPr sz="1520">
                <a:solidFill>
                  <a:srgbClr val="F6F8FC"/>
                </a:solidFill>
              </a:defRPr>
            </a:pPr>
            <a:r>
              <a:t>Equal validation depth for Step 4 zero-breach leaders.</a:t>
            </a:r>
          </a:p>
          <a:p>
            <a:pPr>
              <a:spcAft>
                <a:spcPts val="300"/>
              </a:spcAft>
              <a:defRPr sz="1520">
                <a:solidFill>
                  <a:srgbClr val="F6F8FC"/>
                </a:solidFill>
              </a:defRPr>
            </a:pPr>
            <a:r>
              <a:t>Larger active sleeves and hardware-aware circuits.</a:t>
            </a:r>
          </a:p>
          <a:p>
            <a:pPr>
              <a:spcAft>
                <a:spcPts val="300"/>
              </a:spcAft>
              <a:defRPr sz="1520">
                <a:solidFill>
                  <a:srgbClr val="F6F8FC"/>
                </a:solidFill>
              </a:defRPr>
            </a:pPr>
            <a:r>
              <a:t>Compare against stronger classical discrete solvers as scale grows.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19" y="5715000"/>
            <a:ext cx="10305287" cy="781812"/>
          </a:xfrm>
          <a:prstGeom prst="roundRect">
            <a:avLst/>
          </a:prstGeom>
          <a:solidFill>
            <a:srgbClr val="15294E"/>
          </a:solidFill>
          <a:ln w="13970">
            <a:solidFill>
              <a:srgbClr val="F2B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5843016"/>
            <a:ext cx="9784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2BD66"/>
                </a:solidFill>
              </a:rPr>
              <a:t>Final take-away: a real finance problem first, a carefully scoped quantum subproblem second, and independent evidence before any claim.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423160"/>
            <a:ext cx="10360152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F6F8FC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473952"/>
            <a:ext cx="11247120" cy="22860"/>
          </a:xfrm>
          <a:prstGeom prst="rect">
            <a:avLst/>
          </a:prstGeom>
          <a:solidFill>
            <a:srgbClr val="F2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91440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>
                <a:solidFill>
                  <a:srgbClr val="8FA3BF"/>
                </a:solidFill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9377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6F8FC"/>
                </a:solidFill>
              </a:rPr>
              <a:t>Appendix A — how the 11 candidates were screened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F2BD66"/>
                </a:solidFill>
              </a:rPr>
              <a:t>The screening stage is classical, auditable, and separate from the final optimizer.</a:t>
            </a:r>
          </a:p>
        </p:txBody>
      </p:sp>
      <p:pic>
        <p:nvPicPr>
          <p:cNvPr id="7" name="Picture 6" descr="candidate_screen_sign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5669280" cy="294077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46520" y="1417320"/>
            <a:ext cx="5029200" cy="4572000"/>
          </a:xfrm>
          <a:prstGeom prst="roundRect">
            <a:avLst/>
          </a:prstGeom>
          <a:solidFill>
            <a:srgbClr val="15294E"/>
          </a:solidFill>
          <a:ln w="13970">
            <a:solidFill>
              <a:srgbClr val="F2B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03136" y="1572768"/>
            <a:ext cx="47365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F2BD66"/>
                </a:solidFill>
              </a:rPr>
              <a:t>Screening logic from the Step 5Q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86777" y="2057400"/>
            <a:ext cx="4480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F6F8FC"/>
                </a:solidFill>
              </a:defRPr>
            </a:pPr>
            <a:r>
              <a:rPr dirty="0"/>
              <a:t>Scores combine normalized growth, income, standalone variance, scenario RMS loss, implementation burden, incumbent weight, marginal utility, and diversification information.</a:t>
            </a:r>
          </a:p>
          <a:p>
            <a:pPr>
              <a:spcAft>
                <a:spcPts val="300"/>
              </a:spcAft>
              <a:defRPr sz="1500">
                <a:solidFill>
                  <a:srgbClr val="F6F8FC"/>
                </a:solidFill>
              </a:defRPr>
            </a:pPr>
            <a:r>
              <a:rPr dirty="0"/>
              <a:t>The screen retains both buy and sell opportunities; it does not simply select the highest-return assets.</a:t>
            </a:r>
          </a:p>
          <a:p>
            <a:pPr>
              <a:spcAft>
                <a:spcPts val="300"/>
              </a:spcAft>
              <a:defRPr sz="1500">
                <a:solidFill>
                  <a:srgbClr val="F6F8FC"/>
                </a:solidFill>
              </a:defRPr>
            </a:pPr>
            <a:r>
              <a:rPr dirty="0"/>
              <a:t>The screen reduces the binary universe. It does not determine the final weights.</a:t>
            </a:r>
          </a:p>
          <a:p>
            <a:pPr>
              <a:spcAft>
                <a:spcPts val="300"/>
              </a:spcAft>
              <a:defRPr sz="1500">
                <a:solidFill>
                  <a:srgbClr val="F6F8FC"/>
                </a:solidFill>
              </a:defRPr>
            </a:pPr>
            <a:r>
              <a:rPr dirty="0"/>
              <a:t>The complete 11-candidate order and component scores must be saved for reproducibility.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473952"/>
            <a:ext cx="11247120" cy="22860"/>
          </a:xfrm>
          <a:prstGeom prst="rect">
            <a:avLst/>
          </a:prstGeom>
          <a:solidFill>
            <a:srgbClr val="F2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91440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>
                <a:solidFill>
                  <a:srgbClr val="8FA3BF"/>
                </a:solidFill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9377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6F8FC"/>
                </a:solidFill>
              </a:rPr>
              <a:t>Appendix B — executed QUBO and exactness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F2BD66"/>
                </a:solidFill>
              </a:rPr>
              <a:t>The final active-rebalance energy is a support-ranking surrogate; the complete finance model is restored after decoding.</a:t>
            </a:r>
          </a:p>
        </p:txBody>
      </p:sp>
      <p:pic>
        <p:nvPicPr>
          <p:cNvPr id="7" name="Picture 6" descr="s2_active_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4937760" cy="812272"/>
          </a:xfrm>
          <a:prstGeom prst="rect">
            <a:avLst/>
          </a:prstGeom>
        </p:spPr>
      </p:pic>
      <p:pic>
        <p:nvPicPr>
          <p:cNvPr id="8" name="Picture 7" descr="s2_active_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68880"/>
            <a:ext cx="4937760" cy="41862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3429000"/>
            <a:ext cx="5212080" cy="1965960"/>
          </a:xfrm>
          <a:prstGeom prst="roundRect">
            <a:avLst/>
          </a:prstGeom>
          <a:solidFill>
            <a:srgbClr val="0E234A"/>
          </a:solidFill>
          <a:ln w="13970">
            <a:solidFill>
              <a:srgbClr val="4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3520440"/>
            <a:ext cx="4919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2D9E5"/>
                </a:solidFill>
              </a:rPr>
              <a:t>Executed final QUBO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813048"/>
            <a:ext cx="4617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80">
                <a:solidFill>
                  <a:srgbClr val="F6F8FC"/>
                </a:solidFill>
              </a:defRPr>
            </a:pPr>
            <a:r>
              <a:t>Linear term: squared normalized active-selection score plus a small cost burden adjustment.</a:t>
            </a:r>
          </a:p>
          <a:p>
            <a:pPr>
              <a:spcAft>
                <a:spcPts val="300"/>
              </a:spcAft>
              <a:defRPr sz="1380">
                <a:solidFill>
                  <a:srgbClr val="F6F8FC"/>
                </a:solidFill>
              </a:defRPr>
            </a:pPr>
            <a:r>
              <a:t>Pairwise terms: signed proxy-trade balance plus normalized covariance and impact interactions.</a:t>
            </a:r>
          </a:p>
          <a:p>
            <a:pPr>
              <a:spcAft>
                <a:spcPts val="300"/>
              </a:spcAft>
              <a:defRPr sz="1380">
                <a:solidFill>
                  <a:srgbClr val="F6F8FC"/>
                </a:solidFill>
              </a:defRPr>
            </a:pPr>
            <a:r>
              <a:t>Final active-balance strength = 1.0; QAOA aggregation = 0.25.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17320"/>
            <a:ext cx="5349240" cy="3977639"/>
          </a:xfrm>
          <a:prstGeom prst="roundRect">
            <a:avLst/>
          </a:prstGeom>
          <a:solidFill>
            <a:srgbClr val="15294E"/>
          </a:solidFill>
          <a:ln w="13970">
            <a:solidFill>
              <a:srgbClr val="F2B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5288" y="1508760"/>
            <a:ext cx="5056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F2BD66"/>
                </a:solidFill>
              </a:rPr>
              <a:t>What “exact” means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3567" y="2002535"/>
            <a:ext cx="470916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20">
                <a:solidFill>
                  <a:srgbClr val="F6F8FC"/>
                </a:solidFill>
              </a:defRPr>
            </a:pPr>
            <a:r>
              <a:rPr dirty="0"/>
              <a:t>All 462 six-of-eleven QUBO energies are enumerated exactly.</a:t>
            </a:r>
          </a:p>
          <a:p>
            <a:pPr>
              <a:spcAft>
                <a:spcPts val="300"/>
              </a:spcAft>
              <a:defRPr sz="1420">
                <a:solidFill>
                  <a:srgbClr val="F6F8FC"/>
                </a:solidFill>
              </a:defRPr>
            </a:pPr>
            <a:r>
              <a:rPr dirty="0"/>
              <a:t>Best-of-20 QAOA has rank 1 and zero gap for that reduced QUBO.</a:t>
            </a:r>
          </a:p>
          <a:p>
            <a:pPr>
              <a:spcAft>
                <a:spcPts val="300"/>
              </a:spcAft>
              <a:defRPr sz="1420">
                <a:solidFill>
                  <a:srgbClr val="F6F8FC"/>
                </a:solidFill>
              </a:defRPr>
            </a:pPr>
            <a:r>
              <a:rPr dirty="0"/>
              <a:t>Only a limited set of QAOA/high-ranked supports is continuously refined.</a:t>
            </a:r>
          </a:p>
          <a:p>
            <a:pPr>
              <a:spcAft>
                <a:spcPts val="300"/>
              </a:spcAft>
              <a:defRPr sz="1420">
                <a:solidFill>
                  <a:srgbClr val="F6F8FC"/>
                </a:solidFill>
              </a:defRPr>
            </a:pPr>
            <a:r>
              <a:rPr dirty="0"/>
              <a:t>Therefore the experiment does not prove the same support minimizes the exact refined financial objective over all 462 supports.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74243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60" b="0">
                <a:solidFill>
                  <a:srgbClr val="CAD8EB"/>
                </a:solidFill>
              </a:rPr>
              <a:t>Scientific interpretation: QAOA is a structured candidate generator inside a classically screened local neighborhood; the exact continuous finance model remains the final source of truth.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473952"/>
            <a:ext cx="11247120" cy="22860"/>
          </a:xfrm>
          <a:prstGeom prst="rect">
            <a:avLst/>
          </a:prstGeom>
          <a:solidFill>
            <a:srgbClr val="F2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91440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>
                <a:solidFill>
                  <a:srgbClr val="8FA3BF"/>
                </a:solidFill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9377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6F8FC"/>
                </a:solidFill>
              </a:rPr>
              <a:t>Appendix C — data, units, and horizon conventions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F2BD66"/>
                </a:solidFill>
              </a:rPr>
              <a:t>Assumptions are declared so the numerical evidence can be reproduced and interpreted correctly.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349240" cy="4480560"/>
          </a:xfrm>
          <a:prstGeom prst="roundRect">
            <a:avLst/>
          </a:prstGeom>
          <a:solidFill>
            <a:srgbClr val="0E234A"/>
          </a:solidFill>
          <a:ln w="13970">
            <a:solidFill>
              <a:srgbClr val="4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613109"/>
            <a:ext cx="5056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42D9E5"/>
                </a:solidFill>
              </a:rPr>
              <a:t>Historical branch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462" y="2035347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F6F8FC"/>
                </a:solidFill>
              </a:defRPr>
            </a:pPr>
            <a:r>
              <a:rPr dirty="0"/>
              <a:t>Adjusted-price simple daily returns.</a:t>
            </a:r>
          </a:p>
          <a:p>
            <a:pPr>
              <a:spcAft>
                <a:spcPts val="300"/>
              </a:spcAft>
              <a:defRPr sz="1500">
                <a:solidFill>
                  <a:srgbClr val="F6F8FC"/>
                </a:solidFill>
              </a:defRPr>
            </a:pPr>
            <a:r>
              <a:rPr dirty="0"/>
              <a:t>EWMA expected-return estimate annualized by 252.</a:t>
            </a:r>
          </a:p>
          <a:p>
            <a:pPr>
              <a:spcAft>
                <a:spcPts val="300"/>
              </a:spcAft>
              <a:defRPr sz="1500">
                <a:solidFill>
                  <a:srgbClr val="F6F8FC"/>
                </a:solidFill>
              </a:defRPr>
            </a:pPr>
            <a:r>
              <a:rPr dirty="0"/>
              <a:t>Expected total return shrunk toward ticker priors with empirical weight 0.35.</a:t>
            </a:r>
          </a:p>
          <a:p>
            <a:pPr>
              <a:spcAft>
                <a:spcPts val="300"/>
              </a:spcAft>
              <a:defRPr sz="1500">
                <a:solidFill>
                  <a:srgbClr val="F6F8FC"/>
                </a:solidFill>
              </a:defRPr>
            </a:pPr>
            <a:r>
              <a:rPr dirty="0" err="1"/>
              <a:t>Ledoit</a:t>
            </a:r>
            <a:r>
              <a:rPr dirty="0"/>
              <a:t>-Wolf covariance shrinkage on a common sample; annual covariance = 252 × daily covariance.</a:t>
            </a:r>
          </a:p>
          <a:p>
            <a:pPr>
              <a:spcAft>
                <a:spcPts val="300"/>
              </a:spcAft>
              <a:defRPr sz="1500">
                <a:solidFill>
                  <a:srgbClr val="F6F8FC"/>
                </a:solidFill>
              </a:defRPr>
            </a:pPr>
            <a:r>
              <a:rPr dirty="0"/>
              <a:t>Tiny negative eigenvalues are floored to maintain PSD.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03520" cy="4480560"/>
          </a:xfrm>
          <a:prstGeom prst="roundRect">
            <a:avLst/>
          </a:prstGeom>
          <a:solidFill>
            <a:srgbClr val="15294E"/>
          </a:solidFill>
          <a:ln w="13970">
            <a:solidFill>
              <a:srgbClr val="F2B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6248" y="1613109"/>
            <a:ext cx="50109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F2BD66"/>
                </a:solidFill>
              </a:rPr>
              <a:t>Final synthetic evidence branch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2048256"/>
            <a:ext cx="4709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F6F8FC"/>
                </a:solidFill>
              </a:defRPr>
            </a:pPr>
            <a:r>
              <a:rPr dirty="0"/>
              <a:t>1,260 simulated business-day observations.</a:t>
            </a:r>
          </a:p>
          <a:p>
            <a:pPr>
              <a:spcAft>
                <a:spcPts val="300"/>
              </a:spcAft>
              <a:defRPr sz="1500">
                <a:solidFill>
                  <a:srgbClr val="F6F8FC"/>
                </a:solidFill>
              </a:defRPr>
            </a:pPr>
            <a:r>
              <a:rPr dirty="0"/>
              <a:t>Student-t common-factor and idiosyncratic shocks with 7 degrees of freedom.</a:t>
            </a:r>
          </a:p>
          <a:p>
            <a:pPr>
              <a:spcAft>
                <a:spcPts val="300"/>
              </a:spcAft>
              <a:defRPr sz="1500">
                <a:solidFill>
                  <a:srgbClr val="F6F8FC"/>
                </a:solidFill>
              </a:defRPr>
            </a:pPr>
            <a:r>
              <a:rPr dirty="0"/>
              <a:t>Synthetic dates are labels, not historical market observations.</a:t>
            </a:r>
          </a:p>
          <a:p>
            <a:pPr>
              <a:spcAft>
                <a:spcPts val="300"/>
              </a:spcAft>
              <a:defRPr sz="1500">
                <a:solidFill>
                  <a:srgbClr val="F6F8FC"/>
                </a:solidFill>
              </a:defRPr>
            </a:pPr>
            <a:r>
              <a:rPr dirty="0"/>
              <a:t>Base impact calibration uses $10M portfolio value, 3 execution days, and a 1% reference trade.</a:t>
            </a:r>
          </a:p>
          <a:p>
            <a:pPr>
              <a:spcAft>
                <a:spcPts val="300"/>
              </a:spcAft>
              <a:defRPr sz="1500">
                <a:solidFill>
                  <a:srgbClr val="F6F8FC"/>
                </a:solidFill>
              </a:defRPr>
            </a:pPr>
            <a:r>
              <a:rPr dirty="0"/>
              <a:t>Final numerical claims in the presentation refer to this synthetic-model evidence.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473952"/>
            <a:ext cx="11247120" cy="22860"/>
          </a:xfrm>
          <a:prstGeom prst="rect">
            <a:avLst/>
          </a:prstGeom>
          <a:solidFill>
            <a:srgbClr val="F2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91440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>
                <a:solidFill>
                  <a:srgbClr val="8FA3BF"/>
                </a:solidFill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9377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6F8FC"/>
                </a:solidFill>
              </a:rPr>
              <a:t>Appendix D — independent QP validation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F2BD66"/>
                </a:solidFill>
              </a:rPr>
              <a:t>For a convex QP, KKT residuals plus primal feasibility provide an optimality certificate up to numerical tolerance.</a:t>
            </a:r>
          </a:p>
        </p:txBody>
      </p:sp>
      <p:pic>
        <p:nvPicPr>
          <p:cNvPr id="7" name="Picture 6" descr="kk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720156"/>
            <a:ext cx="5577840" cy="11007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55080" y="1417320"/>
            <a:ext cx="5074920" cy="4480560"/>
          </a:xfrm>
          <a:prstGeom prst="roundRect">
            <a:avLst/>
          </a:prstGeom>
          <a:solidFill>
            <a:srgbClr val="15294E"/>
          </a:solidFill>
          <a:ln w="13970">
            <a:solidFill>
              <a:srgbClr val="F2B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1664208"/>
            <a:ext cx="47823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F2BD66"/>
                </a:solidFill>
              </a:rPr>
              <a:t>Recorded audit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125980"/>
            <a:ext cx="4480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F6F8FC"/>
                </a:solidFill>
              </a:defRPr>
            </a:pPr>
            <a:r>
              <a:rPr dirty="0"/>
              <a:t>Primary global: 130 constraints, 0 failures, max violation 2.22×10⁻¹⁶.</a:t>
            </a:r>
          </a:p>
          <a:p>
            <a:pPr>
              <a:spcAft>
                <a:spcPts val="300"/>
              </a:spcAft>
              <a:defRPr sz="1500">
                <a:solidFill>
                  <a:srgbClr val="F6F8FC"/>
                </a:solidFill>
              </a:defRPr>
            </a:pPr>
            <a:r>
              <a:rPr dirty="0"/>
              <a:t>Strict global: 130 constraints, 0 failures, max violation 7.77×10⁻¹⁶.</a:t>
            </a:r>
          </a:p>
          <a:p>
            <a:pPr>
              <a:spcAft>
                <a:spcPts val="300"/>
              </a:spcAft>
              <a:defRPr sz="1500">
                <a:solidFill>
                  <a:srgbClr val="F6F8FC"/>
                </a:solidFill>
              </a:defRPr>
            </a:pPr>
            <a:r>
              <a:rPr dirty="0"/>
              <a:t>QAOA fixed support: 174 constraints, 0 failures, max violation 1.04×10⁻¹⁷.</a:t>
            </a:r>
          </a:p>
          <a:p>
            <a:pPr>
              <a:spcAft>
                <a:spcPts val="300"/>
              </a:spcAft>
              <a:defRPr sz="1500">
                <a:solidFill>
                  <a:srgbClr val="F6F8FC"/>
                </a:solidFill>
              </a:defRPr>
            </a:pPr>
            <a:r>
              <a:rPr dirty="0"/>
              <a:t>Stored-versus-independent weight differences are at numerical precision.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473952"/>
            <a:ext cx="11247120" cy="22860"/>
          </a:xfrm>
          <a:prstGeom prst="rect">
            <a:avLst/>
          </a:prstGeom>
          <a:solidFill>
            <a:srgbClr val="F2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91440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>
                <a:solidFill>
                  <a:srgbClr val="8FA3BF"/>
                </a:solidFill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9377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6F8FC"/>
                </a:solidFill>
              </a:rPr>
              <a:t>Appendix E — scoring sensitivity and certification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F2BD66"/>
                </a:solidFill>
              </a:rPr>
              <a:t>The ranking is transparent but depends on the declared benchmark and on which candidates have equivalent evidence.</a:t>
            </a:r>
          </a:p>
        </p:txBody>
      </p:sp>
      <p:pic>
        <p:nvPicPr>
          <p:cNvPr id="7" name="Picture 6" descr="step10_provis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5394960" cy="2950369"/>
          </a:xfrm>
          <a:prstGeom prst="rect">
            <a:avLst/>
          </a:prstGeom>
        </p:spPr>
      </p:pic>
      <p:pic>
        <p:nvPicPr>
          <p:cNvPr id="8" name="Picture 7" descr="step10_certifi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17320"/>
            <a:ext cx="4754880" cy="298917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" y="4617720"/>
            <a:ext cx="10424160" cy="1078992"/>
          </a:xfrm>
          <a:prstGeom prst="roundRect">
            <a:avLst/>
          </a:prstGeom>
          <a:solidFill>
            <a:srgbClr val="15294E"/>
          </a:solidFill>
          <a:ln w="13970">
            <a:solidFill>
              <a:srgbClr val="4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4892040"/>
            <a:ext cx="9966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0">
                <a:solidFill>
                  <a:srgbClr val="F6F8FC"/>
                </a:solidFill>
              </a:rPr>
              <a:t>Across 66 core-weight combinations, Step 4 scenario-aware wins 58/66 in the all-zero-breach universe and Step 4 trading-cost wins 8/66. Strict-warning wins all 66 within the fully certified shortlist. A benchmark above roughly 3.15–3.5% can switch the provisional leader.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2013</Words>
  <Application>Microsoft Macintosh PowerPoint</Application>
  <PresentationFormat>Widescreen</PresentationFormat>
  <Paragraphs>238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Quantum-Assisted Multi-Asset Portfolio Construction</dc:title>
  <dc:subject>WISER Quantum Summer Program - Vanguard-sponsored project</dc:subject>
  <dc:creator>Project Team</dc:creator>
  <cp:keywords/>
  <dc:description>generated using python-pptx</dc:description>
  <cp:lastModifiedBy>Yasaman Yaghoobi</cp:lastModifiedBy>
  <cp:revision>3</cp:revision>
  <dcterms:created xsi:type="dcterms:W3CDTF">2013-01-27T09:14:16Z</dcterms:created>
  <dcterms:modified xsi:type="dcterms:W3CDTF">2026-08-07T15:13:24Z</dcterms:modified>
  <cp:category/>
</cp:coreProperties>
</file>